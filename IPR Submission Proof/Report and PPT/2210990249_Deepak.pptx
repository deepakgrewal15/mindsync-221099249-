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imes New Roman" charset="1" panose="02020603050405020304"/>
      <p:regular r:id="rId17"/>
    </p:embeddedFon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056962"/>
            <a:ext cx="13715905" cy="230038"/>
            <a:chOff x="0" y="0"/>
            <a:chExt cx="13715911" cy="230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5496" cy="229993"/>
            </a:xfrm>
            <a:custGeom>
              <a:avLst/>
              <a:gdLst/>
              <a:ahLst/>
              <a:cxnLst/>
              <a:rect r="r" b="b" t="t" l="l"/>
              <a:pathLst>
                <a:path h="229993" w="13715496">
                  <a:moveTo>
                    <a:pt x="0" y="0"/>
                  </a:moveTo>
                  <a:lnTo>
                    <a:pt x="0" y="229993"/>
                  </a:lnTo>
                  <a:lnTo>
                    <a:pt x="13715496" y="229993"/>
                  </a:lnTo>
                  <a:lnTo>
                    <a:pt x="13715496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0"/>
            <a:ext cx="13714390" cy="1256576"/>
            <a:chOff x="0" y="0"/>
            <a:chExt cx="13714387" cy="12565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4346" cy="1256534"/>
            </a:xfrm>
            <a:custGeom>
              <a:avLst/>
              <a:gdLst/>
              <a:ahLst/>
              <a:cxnLst/>
              <a:rect r="r" b="b" t="t" l="l"/>
              <a:pathLst>
                <a:path h="1256534" w="13714346">
                  <a:moveTo>
                    <a:pt x="0" y="0"/>
                  </a:moveTo>
                  <a:lnTo>
                    <a:pt x="0" y="1256534"/>
                  </a:lnTo>
                  <a:lnTo>
                    <a:pt x="13714346" y="1256534"/>
                  </a:lnTo>
                  <a:lnTo>
                    <a:pt x="13714346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688431" y="1462783"/>
            <a:ext cx="13169589" cy="224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Industry oriented hands on experience  ( 22CS422) 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</a:p>
          <a:p>
            <a:pPr algn="ctr">
              <a:lnSpc>
                <a:spcPts val="8835"/>
              </a:lnSpc>
            </a:pPr>
            <a:r>
              <a:rPr lang="en-US" sz="7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MindSync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92395" y="4793275"/>
            <a:ext cx="1941347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Deepak </a:t>
            </a: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2210990249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142730" y="6164875"/>
            <a:ext cx="612268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 Dr.Gifty gupta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06656" y="8006210"/>
            <a:ext cx="9664341" cy="110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3"/>
              </a:lnSpc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Chitkara University, Punjab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056962"/>
            <a:ext cx="13715905" cy="230038"/>
            <a:chOff x="0" y="0"/>
            <a:chExt cx="13715911" cy="230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5496" cy="229993"/>
            </a:xfrm>
            <a:custGeom>
              <a:avLst/>
              <a:gdLst/>
              <a:ahLst/>
              <a:cxnLst/>
              <a:rect r="r" b="b" t="t" l="l"/>
              <a:pathLst>
                <a:path h="229993" w="13715496">
                  <a:moveTo>
                    <a:pt x="0" y="0"/>
                  </a:moveTo>
                  <a:lnTo>
                    <a:pt x="0" y="229993"/>
                  </a:lnTo>
                  <a:lnTo>
                    <a:pt x="13715496" y="229993"/>
                  </a:lnTo>
                  <a:lnTo>
                    <a:pt x="13715496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0"/>
            <a:ext cx="13714390" cy="1256576"/>
            <a:chOff x="0" y="0"/>
            <a:chExt cx="13714387" cy="12565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4346" cy="1256534"/>
            </a:xfrm>
            <a:custGeom>
              <a:avLst/>
              <a:gdLst/>
              <a:ahLst/>
              <a:cxnLst/>
              <a:rect r="r" b="b" t="t" l="l"/>
              <a:pathLst>
                <a:path h="1256534" w="13714346">
                  <a:moveTo>
                    <a:pt x="0" y="0"/>
                  </a:moveTo>
                  <a:lnTo>
                    <a:pt x="0" y="1256534"/>
                  </a:lnTo>
                  <a:lnTo>
                    <a:pt x="13714346" y="1256534"/>
                  </a:lnTo>
                  <a:lnTo>
                    <a:pt x="13714346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5979614" y="195529"/>
            <a:ext cx="3073746" cy="84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99595" y="9626022"/>
            <a:ext cx="118177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64418" y="2101652"/>
            <a:ext cx="13359165" cy="6017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3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MindSync is an A</a:t>
            </a:r>
            <a:r>
              <a:rPr lang="en-US" sz="3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I-powered productivity and mental wellness platform designed to help users efficiently manage their daily tasks, track their mood, and improve overall productivity through a modern digital dashboard. The platform combines productivity management, wellness tracking, and interactive user experiences into a single centralized system. With a responsive and visually appealing interface, MindSync simplifies daily organization and enhances user engagement. </a:t>
            </a:r>
          </a:p>
          <a:p>
            <a:pPr algn="l">
              <a:lnSpc>
                <a:spcPts val="3930"/>
              </a:lnSpc>
            </a:pPr>
          </a:p>
          <a:p>
            <a:pPr algn="l">
              <a:lnSpc>
                <a:spcPts val="3930"/>
              </a:lnSpc>
            </a:pPr>
            <a:r>
              <a:rPr lang="en-US" sz="3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focuses on creating a professional, scalable, and user-friendly platform using modern frontend technologies. It provides users with seamless navigation, dynamic interactions, and real-time task management, making it suitable for both personal and professional productivity enhancement.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056962"/>
            <a:ext cx="13715905" cy="230038"/>
            <a:chOff x="0" y="0"/>
            <a:chExt cx="13715911" cy="230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5496" cy="229993"/>
            </a:xfrm>
            <a:custGeom>
              <a:avLst/>
              <a:gdLst/>
              <a:ahLst/>
              <a:cxnLst/>
              <a:rect r="r" b="b" t="t" l="l"/>
              <a:pathLst>
                <a:path h="229993" w="13715496">
                  <a:moveTo>
                    <a:pt x="0" y="0"/>
                  </a:moveTo>
                  <a:lnTo>
                    <a:pt x="0" y="229993"/>
                  </a:lnTo>
                  <a:lnTo>
                    <a:pt x="13715496" y="229993"/>
                  </a:lnTo>
                  <a:lnTo>
                    <a:pt x="13715496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0"/>
            <a:ext cx="13714390" cy="1256576"/>
            <a:chOff x="0" y="0"/>
            <a:chExt cx="13714387" cy="12565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4346" cy="1256534"/>
            </a:xfrm>
            <a:custGeom>
              <a:avLst/>
              <a:gdLst/>
              <a:ahLst/>
              <a:cxnLst/>
              <a:rect r="r" b="b" t="t" l="l"/>
              <a:pathLst>
                <a:path h="1256534" w="13714346">
                  <a:moveTo>
                    <a:pt x="0" y="0"/>
                  </a:moveTo>
                  <a:lnTo>
                    <a:pt x="0" y="1256534"/>
                  </a:lnTo>
                  <a:lnTo>
                    <a:pt x="13714346" y="1256534"/>
                  </a:lnTo>
                  <a:lnTo>
                    <a:pt x="13714346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5158388" y="195529"/>
            <a:ext cx="4749060" cy="84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99595" y="9626022"/>
            <a:ext cx="118177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91627" y="1373680"/>
            <a:ext cx="11211514" cy="879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4836" indent="-327418" lvl="1">
              <a:lnSpc>
                <a:spcPts val="5386"/>
              </a:lnSpc>
              <a:buFont typeface="Arial"/>
              <a:buChar char="•"/>
            </a:pPr>
            <a:r>
              <a:rPr lang="en-US" sz="3033" spc="3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</a:t>
            </a:r>
            <a:r>
              <a:rPr lang="en-US" sz="3033" spc="3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eople struggle to manage productivity and mental wellness together.</a:t>
            </a:r>
          </a:p>
          <a:p>
            <a:pPr algn="l" marL="654836" indent="-327418" lvl="1">
              <a:lnSpc>
                <a:spcPts val="5386"/>
              </a:lnSpc>
              <a:buFont typeface="Arial"/>
              <a:buChar char="•"/>
            </a:pPr>
            <a:r>
              <a:rPr lang="en-US" sz="3033" spc="3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applications are often complex and not user-friendly.</a:t>
            </a:r>
          </a:p>
          <a:p>
            <a:pPr algn="l" marL="654836" indent="-327418" lvl="1">
              <a:lnSpc>
                <a:spcPts val="5386"/>
              </a:lnSpc>
              <a:buFont typeface="Arial"/>
              <a:buChar char="•"/>
            </a:pPr>
            <a:r>
              <a:rPr lang="en-US" sz="3033" spc="3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Users face difficulty tracking tasks, moods, and daily progress in one place.</a:t>
            </a:r>
          </a:p>
          <a:p>
            <a:pPr algn="l" marL="654836" indent="-327418" lvl="1">
              <a:lnSpc>
                <a:spcPts val="5386"/>
              </a:lnSpc>
              <a:buFont typeface="Arial"/>
              <a:buChar char="•"/>
            </a:pPr>
            <a:r>
              <a:rPr lang="en-US" sz="3033" spc="3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productivity management reduces efficiency and consistency.</a:t>
            </a:r>
          </a:p>
          <a:p>
            <a:pPr algn="l" marL="654836" indent="-327418" lvl="1">
              <a:lnSpc>
                <a:spcPts val="5386"/>
              </a:lnSpc>
              <a:buFont typeface="Arial"/>
              <a:buChar char="•"/>
            </a:pPr>
            <a:r>
              <a:rPr lang="en-US" sz="3033" spc="3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Lack of personalized dashboards and interactive UI affects user engagement.</a:t>
            </a:r>
          </a:p>
          <a:p>
            <a:pPr algn="l" marL="654836" indent="-327418" lvl="1">
              <a:lnSpc>
                <a:spcPts val="5386"/>
              </a:lnSpc>
              <a:buFont typeface="Arial"/>
              <a:buChar char="•"/>
            </a:pPr>
            <a:r>
              <a:rPr lang="en-US" sz="3033" spc="3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Many platforms are not fully responsive across different devices.</a:t>
            </a:r>
          </a:p>
          <a:p>
            <a:pPr algn="l" marL="654836" indent="-327418" lvl="1">
              <a:lnSpc>
                <a:spcPts val="5386"/>
              </a:lnSpc>
              <a:buFont typeface="Arial"/>
              <a:buChar char="•"/>
            </a:pPr>
            <a:r>
              <a:rPr lang="en-US" sz="3033" spc="3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Users require modern and visually appealing systems for better experience.</a:t>
            </a:r>
          </a:p>
          <a:p>
            <a:pPr algn="l">
              <a:lnSpc>
                <a:spcPts val="5386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056962"/>
            <a:ext cx="13715905" cy="230038"/>
            <a:chOff x="0" y="0"/>
            <a:chExt cx="13715911" cy="230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5496" cy="229993"/>
            </a:xfrm>
            <a:custGeom>
              <a:avLst/>
              <a:gdLst/>
              <a:ahLst/>
              <a:cxnLst/>
              <a:rect r="r" b="b" t="t" l="l"/>
              <a:pathLst>
                <a:path h="229993" w="13715496">
                  <a:moveTo>
                    <a:pt x="0" y="0"/>
                  </a:moveTo>
                  <a:lnTo>
                    <a:pt x="0" y="229993"/>
                  </a:lnTo>
                  <a:lnTo>
                    <a:pt x="13715496" y="229993"/>
                  </a:lnTo>
                  <a:lnTo>
                    <a:pt x="13715496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0"/>
            <a:ext cx="13714390" cy="1256576"/>
            <a:chOff x="0" y="0"/>
            <a:chExt cx="13714387" cy="12565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4346" cy="1256534"/>
            </a:xfrm>
            <a:custGeom>
              <a:avLst/>
              <a:gdLst/>
              <a:ahLst/>
              <a:cxnLst/>
              <a:rect r="r" b="b" t="t" l="l"/>
              <a:pathLst>
                <a:path h="1256534" w="13714346">
                  <a:moveTo>
                    <a:pt x="0" y="0"/>
                  </a:moveTo>
                  <a:lnTo>
                    <a:pt x="0" y="1256534"/>
                  </a:lnTo>
                  <a:lnTo>
                    <a:pt x="13714346" y="1256534"/>
                  </a:lnTo>
                  <a:lnTo>
                    <a:pt x="13714346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7" id="7" descr="LOGO.gif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301530" y="195529"/>
            <a:ext cx="2417035" cy="84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99595" y="9626022"/>
            <a:ext cx="118177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13552" y="1183674"/>
            <a:ext cx="13260896" cy="8074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8"/>
              </a:lnSpc>
            </a:pPr>
          </a:p>
          <a:p>
            <a:pPr algn="l" marL="723212" indent="-361606" lvl="1">
              <a:lnSpc>
                <a:spcPts val="5949"/>
              </a:lnSpc>
              <a:buFont typeface="Arial"/>
              <a:buChar char="•"/>
            </a:pPr>
            <a:r>
              <a:rPr lang="en-US" sz="33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develop a centralized productivity and wellness management platform.</a:t>
            </a:r>
          </a:p>
          <a:p>
            <a:pPr algn="l" marL="723212" indent="-361606" lvl="1">
              <a:lnSpc>
                <a:spcPts val="5949"/>
              </a:lnSpc>
              <a:buFont typeface="Arial"/>
              <a:buChar char="•"/>
            </a:pPr>
            <a:r>
              <a:rPr lang="en-US" sz="33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provide users with an intuitive and modern dashboard experience.</a:t>
            </a:r>
          </a:p>
          <a:p>
            <a:pPr algn="l" marL="723212" indent="-361606" lvl="1">
              <a:lnSpc>
                <a:spcPts val="5949"/>
              </a:lnSpc>
              <a:buFont typeface="Arial"/>
              <a:buChar char="•"/>
            </a:pPr>
            <a:r>
              <a:rPr lang="en-US" sz="33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enable task management and mood tracking in a single application.</a:t>
            </a:r>
          </a:p>
          <a:p>
            <a:pPr algn="l" marL="723212" indent="-361606" lvl="1">
              <a:lnSpc>
                <a:spcPts val="5949"/>
              </a:lnSpc>
              <a:buFont typeface="Arial"/>
              <a:buChar char="•"/>
            </a:pPr>
            <a:r>
              <a:rPr lang="en-US" sz="33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improve user engagement through animations and responsive UI design.</a:t>
            </a:r>
          </a:p>
          <a:p>
            <a:pPr algn="l" marL="723212" indent="-361606" lvl="1">
              <a:lnSpc>
                <a:spcPts val="5949"/>
              </a:lnSpc>
              <a:buFont typeface="Arial"/>
              <a:buChar char="•"/>
            </a:pPr>
            <a:r>
              <a:rPr lang="en-US" sz="33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create a scalable and professional web-based solution.</a:t>
            </a:r>
          </a:p>
          <a:p>
            <a:pPr algn="l" marL="723212" indent="-361606" lvl="1">
              <a:lnSpc>
                <a:spcPts val="5949"/>
              </a:lnSpc>
              <a:buFont typeface="Arial"/>
              <a:buChar char="•"/>
            </a:pPr>
            <a:r>
              <a:rPr lang="en-US" sz="33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deliver a smooth and interactive user experience across devices.</a:t>
            </a:r>
          </a:p>
          <a:p>
            <a:pPr algn="l" marL="723212" indent="-361606" lvl="1">
              <a:lnSpc>
                <a:spcPts val="5949"/>
              </a:lnSpc>
              <a:buFont typeface="Arial"/>
              <a:buChar char="•"/>
            </a:pPr>
            <a:r>
              <a:rPr lang="en-US" sz="33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simplify daily organization and productivity tracking.</a:t>
            </a:r>
          </a:p>
          <a:p>
            <a:pPr algn="l">
              <a:lnSpc>
                <a:spcPts val="506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056962"/>
            <a:ext cx="13715905" cy="230038"/>
            <a:chOff x="0" y="0"/>
            <a:chExt cx="13715911" cy="230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5496" cy="229993"/>
            </a:xfrm>
            <a:custGeom>
              <a:avLst/>
              <a:gdLst/>
              <a:ahLst/>
              <a:cxnLst/>
              <a:rect r="r" b="b" t="t" l="l"/>
              <a:pathLst>
                <a:path h="229993" w="13715496">
                  <a:moveTo>
                    <a:pt x="0" y="0"/>
                  </a:moveTo>
                  <a:lnTo>
                    <a:pt x="0" y="229993"/>
                  </a:lnTo>
                  <a:lnTo>
                    <a:pt x="13715496" y="229993"/>
                  </a:lnTo>
                  <a:lnTo>
                    <a:pt x="13715496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0"/>
            <a:ext cx="13714390" cy="1256576"/>
            <a:chOff x="0" y="0"/>
            <a:chExt cx="13714387" cy="12565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4346" cy="1256534"/>
            </a:xfrm>
            <a:custGeom>
              <a:avLst/>
              <a:gdLst/>
              <a:ahLst/>
              <a:cxnLst/>
              <a:rect r="r" b="b" t="t" l="l"/>
              <a:pathLst>
                <a:path h="1256534" w="13714346">
                  <a:moveTo>
                    <a:pt x="0" y="0"/>
                  </a:moveTo>
                  <a:lnTo>
                    <a:pt x="0" y="1256534"/>
                  </a:lnTo>
                  <a:lnTo>
                    <a:pt x="13714346" y="1256534"/>
                  </a:lnTo>
                  <a:lnTo>
                    <a:pt x="13714346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4574229" y="195529"/>
            <a:ext cx="6383536" cy="8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TECHNOLOGIES USED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99595" y="9626022"/>
            <a:ext cx="118177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009843" y="1534049"/>
            <a:ext cx="12886982" cy="864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b="true" sz="2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</a:t>
            </a:r>
            <a:r>
              <a:rPr lang="en-US" b="true" sz="2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tend Technologies</a:t>
            </a:r>
          </a:p>
          <a:p>
            <a:pPr algn="l" marL="636904" indent="-318452" lvl="1">
              <a:lnSpc>
                <a:spcPts val="5277"/>
              </a:lnSpc>
              <a:buFont typeface="Arial"/>
              <a:buChar char="•"/>
            </a:pP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HTML5</a:t>
            </a:r>
          </a:p>
          <a:p>
            <a:pPr algn="l" marL="636904" indent="-318452" lvl="1">
              <a:lnSpc>
                <a:spcPts val="5277"/>
              </a:lnSpc>
              <a:buFont typeface="Arial"/>
              <a:buChar char="•"/>
            </a:pP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CSS3</a:t>
            </a:r>
          </a:p>
          <a:p>
            <a:pPr algn="l" marL="636904" indent="-318452" lvl="1">
              <a:lnSpc>
                <a:spcPts val="5277"/>
              </a:lnSpc>
              <a:buFont typeface="Arial"/>
              <a:buChar char="•"/>
            </a:pP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JavaS</a:t>
            </a: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</a:t>
            </a: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rip</a:t>
            </a: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</a:t>
            </a: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(ES6)</a:t>
            </a:r>
          </a:p>
          <a:p>
            <a:pPr algn="l">
              <a:lnSpc>
                <a:spcPts val="5277"/>
              </a:lnSpc>
            </a:pPr>
            <a:r>
              <a:rPr lang="en-US" b="true" sz="2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UI/UX Technologies</a:t>
            </a:r>
          </a:p>
          <a:p>
            <a:pPr algn="l" marL="636904" indent="-318452" lvl="1">
              <a:lnSpc>
                <a:spcPts val="5277"/>
              </a:lnSpc>
              <a:buFont typeface="Arial"/>
              <a:buChar char="•"/>
            </a:pP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Resp</a:t>
            </a: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on</a:t>
            </a: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sive</a:t>
            </a: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Web</a:t>
            </a: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</a:t>
            </a: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</a:t>
            </a: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</a:t>
            </a: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</a:t>
            </a: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</a:t>
            </a:r>
          </a:p>
          <a:p>
            <a:pPr algn="l" marL="636904" indent="-318452" lvl="1">
              <a:lnSpc>
                <a:spcPts val="5277"/>
              </a:lnSpc>
              <a:buFont typeface="Arial"/>
              <a:buChar char="•"/>
            </a:pP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Glassmorphism UI Design</a:t>
            </a:r>
          </a:p>
          <a:p>
            <a:pPr algn="l" marL="636904" indent="-318452" lvl="1">
              <a:lnSpc>
                <a:spcPts val="5277"/>
              </a:lnSpc>
              <a:buFont typeface="Arial"/>
              <a:buChar char="•"/>
            </a:pP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CSS Animations &amp; Transitions</a:t>
            </a:r>
          </a:p>
          <a:p>
            <a:pPr algn="l">
              <a:lnSpc>
                <a:spcPts val="5277"/>
              </a:lnSpc>
            </a:pPr>
            <a:r>
              <a:rPr lang="en-US" b="true" sz="29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Development Tools</a:t>
            </a:r>
          </a:p>
          <a:p>
            <a:pPr algn="l" marL="636904" indent="-318452" lvl="1">
              <a:lnSpc>
                <a:spcPts val="5277"/>
              </a:lnSpc>
              <a:buFont typeface="Arial"/>
              <a:buChar char="•"/>
            </a:pP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Visual Studio Code</a:t>
            </a:r>
          </a:p>
          <a:p>
            <a:pPr algn="l" marL="636904" indent="-318452" lvl="1">
              <a:lnSpc>
                <a:spcPts val="5277"/>
              </a:lnSpc>
              <a:buFont typeface="Arial"/>
              <a:buChar char="•"/>
            </a:pP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Live Server</a:t>
            </a:r>
          </a:p>
          <a:p>
            <a:pPr algn="l" marL="636904" indent="-318452" lvl="1">
              <a:lnSpc>
                <a:spcPts val="5277"/>
              </a:lnSpc>
              <a:buFont typeface="Arial"/>
              <a:buChar char="•"/>
            </a:pPr>
            <a:r>
              <a:rPr lang="en-US" sz="29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 &amp; GitHub (Optional)</a:t>
            </a:r>
          </a:p>
          <a:p>
            <a:pPr algn="l">
              <a:lnSpc>
                <a:spcPts val="5098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056962"/>
            <a:ext cx="13715905" cy="230038"/>
            <a:chOff x="0" y="0"/>
            <a:chExt cx="13715911" cy="230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5496" cy="229993"/>
            </a:xfrm>
            <a:custGeom>
              <a:avLst/>
              <a:gdLst/>
              <a:ahLst/>
              <a:cxnLst/>
              <a:rect r="r" b="b" t="t" l="l"/>
              <a:pathLst>
                <a:path h="229993" w="13715496">
                  <a:moveTo>
                    <a:pt x="0" y="0"/>
                  </a:moveTo>
                  <a:lnTo>
                    <a:pt x="0" y="229993"/>
                  </a:lnTo>
                  <a:lnTo>
                    <a:pt x="13715496" y="229993"/>
                  </a:lnTo>
                  <a:lnTo>
                    <a:pt x="13715496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0"/>
            <a:ext cx="13714390" cy="1256576"/>
            <a:chOff x="0" y="0"/>
            <a:chExt cx="13714387" cy="12565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4346" cy="1256534"/>
            </a:xfrm>
            <a:custGeom>
              <a:avLst/>
              <a:gdLst/>
              <a:ahLst/>
              <a:cxnLst/>
              <a:rect r="r" b="b" t="t" l="l"/>
              <a:pathLst>
                <a:path h="1256534" w="13714346">
                  <a:moveTo>
                    <a:pt x="0" y="0"/>
                  </a:moveTo>
                  <a:lnTo>
                    <a:pt x="0" y="1256534"/>
                  </a:lnTo>
                  <a:lnTo>
                    <a:pt x="13714346" y="1256534"/>
                  </a:lnTo>
                  <a:lnTo>
                    <a:pt x="13714346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7" id="7" descr="LOGO.gif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2920067" y="179070"/>
            <a:ext cx="8585895" cy="8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FLOW OF THE PROJECT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54081" y="1829086"/>
            <a:ext cx="12620882" cy="735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7570" indent="-348785" lvl="1">
              <a:lnSpc>
                <a:spcPts val="5802"/>
              </a:lnSpc>
              <a:buAutoNum type="arabicPeriod" startAt="1"/>
            </a:pPr>
            <a:r>
              <a:rPr lang="en-US" sz="32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</a:t>
            </a:r>
            <a:r>
              <a:rPr lang="en-US" sz="32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opens the MindSync dashboard.</a:t>
            </a:r>
          </a:p>
          <a:p>
            <a:pPr algn="l" marL="697570" indent="-348785" lvl="1">
              <a:lnSpc>
                <a:spcPts val="5802"/>
              </a:lnSpc>
              <a:buAutoNum type="arabicPeriod" startAt="1"/>
            </a:pPr>
            <a:r>
              <a:rPr lang="en-US" sz="32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 accesses the productivity management interface.</a:t>
            </a:r>
          </a:p>
          <a:p>
            <a:pPr algn="l" marL="697570" indent="-348785" lvl="1">
              <a:lnSpc>
                <a:spcPts val="5802"/>
              </a:lnSpc>
              <a:buAutoNum type="arabicPeriod" startAt="1"/>
            </a:pPr>
            <a:r>
              <a:rPr lang="en-US" sz="32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Dashboard displays tasks, productivity metrics, and mood insights.</a:t>
            </a:r>
          </a:p>
          <a:p>
            <a:pPr algn="l" marL="719159" indent="-359580" lvl="1">
              <a:lnSpc>
                <a:spcPts val="5982"/>
              </a:lnSpc>
              <a:buAutoNum type="arabicPeriod" startAt="1"/>
            </a:pPr>
            <a:r>
              <a:rPr lang="en-US" sz="33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 can add, edit, update, or manage tasks dynamically.</a:t>
            </a:r>
          </a:p>
          <a:p>
            <a:pPr algn="l" marL="697570" indent="-348785" lvl="1">
              <a:lnSpc>
                <a:spcPts val="5802"/>
              </a:lnSpc>
              <a:buAutoNum type="arabicPeriod" startAt="1"/>
            </a:pPr>
            <a:r>
              <a:rPr lang="en-US" sz="32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Mood tracking section records daily wellness status.</a:t>
            </a:r>
          </a:p>
          <a:p>
            <a:pPr algn="l" marL="697570" indent="-348785" lvl="1">
              <a:lnSpc>
                <a:spcPts val="5802"/>
              </a:lnSpc>
              <a:buAutoNum type="arabicPeriod" startAt="1"/>
            </a:pPr>
            <a:r>
              <a:rPr lang="en-US" sz="32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Sidebar navigation enables smooth movement between pages.</a:t>
            </a:r>
          </a:p>
          <a:p>
            <a:pPr algn="l" marL="697570" indent="-348785" lvl="1">
              <a:lnSpc>
                <a:spcPts val="5802"/>
              </a:lnSpc>
              <a:buAutoNum type="arabicPeriod" startAt="1"/>
            </a:pPr>
            <a:r>
              <a:rPr lang="en-US" sz="32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notifications and animations improve engagement.</a:t>
            </a:r>
          </a:p>
          <a:p>
            <a:pPr algn="l" marL="697570" indent="-348785" lvl="1">
              <a:lnSpc>
                <a:spcPts val="5802"/>
              </a:lnSpc>
              <a:buAutoNum type="arabicPeriod" startAt="1"/>
            </a:pPr>
            <a:r>
              <a:rPr lang="en-US" sz="323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System provides a responsive experience across desktop and mobile devices.</a:t>
            </a:r>
          </a:p>
          <a:p>
            <a:pPr algn="l">
              <a:lnSpc>
                <a:spcPts val="5802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199595" y="9740322"/>
            <a:ext cx="118177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3"/>
              </a:lnSpc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056962"/>
            <a:ext cx="13715905" cy="230038"/>
            <a:chOff x="0" y="0"/>
            <a:chExt cx="13715911" cy="230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5496" cy="229993"/>
            </a:xfrm>
            <a:custGeom>
              <a:avLst/>
              <a:gdLst/>
              <a:ahLst/>
              <a:cxnLst/>
              <a:rect r="r" b="b" t="t" l="l"/>
              <a:pathLst>
                <a:path h="229993" w="13715496">
                  <a:moveTo>
                    <a:pt x="0" y="0"/>
                  </a:moveTo>
                  <a:lnTo>
                    <a:pt x="0" y="229993"/>
                  </a:lnTo>
                  <a:lnTo>
                    <a:pt x="13715496" y="229993"/>
                  </a:lnTo>
                  <a:lnTo>
                    <a:pt x="13715496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0"/>
            <a:ext cx="13714390" cy="1256576"/>
            <a:chOff x="0" y="0"/>
            <a:chExt cx="13714387" cy="12565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4346" cy="1256534"/>
            </a:xfrm>
            <a:custGeom>
              <a:avLst/>
              <a:gdLst/>
              <a:ahLst/>
              <a:cxnLst/>
              <a:rect r="r" b="b" t="t" l="l"/>
              <a:pathLst>
                <a:path h="1256534" w="13714346">
                  <a:moveTo>
                    <a:pt x="0" y="0"/>
                  </a:moveTo>
                  <a:lnTo>
                    <a:pt x="0" y="1256534"/>
                  </a:lnTo>
                  <a:lnTo>
                    <a:pt x="13714346" y="1256534"/>
                  </a:lnTo>
                  <a:lnTo>
                    <a:pt x="13714346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9" id="9" descr="LOGO.gif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5869781" y="195529"/>
            <a:ext cx="3297803" cy="84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94372" y="1243818"/>
            <a:ext cx="13699255" cy="881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5091" indent="-382545" lvl="1">
              <a:lnSpc>
                <a:spcPts val="6332"/>
              </a:lnSpc>
              <a:buFont typeface="Arial"/>
              <a:buChar char="•"/>
            </a:pPr>
            <a:r>
              <a:rPr lang="en-US" sz="3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</a:t>
            </a:r>
            <a:r>
              <a:rPr lang="en-US" sz="3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odern AI-inspired dashboard interface</a:t>
            </a:r>
          </a:p>
          <a:p>
            <a:pPr algn="l" marL="765091" indent="-382545" lvl="1">
              <a:lnSpc>
                <a:spcPts val="6332"/>
              </a:lnSpc>
              <a:buFont typeface="Arial"/>
              <a:buChar char="•"/>
            </a:pPr>
            <a:r>
              <a:rPr lang="en-US" sz="3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Responsive design for all screen sizes</a:t>
            </a:r>
          </a:p>
          <a:p>
            <a:pPr algn="l" marL="765091" indent="-382545" lvl="1">
              <a:lnSpc>
                <a:spcPts val="6332"/>
              </a:lnSpc>
              <a:buFont typeface="Arial"/>
              <a:buChar char="•"/>
            </a:pPr>
            <a:r>
              <a:rPr lang="en-US" sz="3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Task and productivity management system</a:t>
            </a:r>
          </a:p>
          <a:p>
            <a:pPr algn="l" marL="765091" indent="-382545" lvl="1">
              <a:lnSpc>
                <a:spcPts val="6332"/>
              </a:lnSpc>
              <a:buFont typeface="Arial"/>
              <a:buChar char="•"/>
            </a:pPr>
            <a:r>
              <a:rPr lang="en-US" sz="3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Mood tracking and wellness monitoring</a:t>
            </a:r>
          </a:p>
          <a:p>
            <a:pPr algn="l" marL="765091" indent="-382545" lvl="1">
              <a:lnSpc>
                <a:spcPts val="6332"/>
              </a:lnSpc>
              <a:buFont typeface="Arial"/>
              <a:buChar char="•"/>
            </a:pPr>
            <a:r>
              <a:rPr lang="en-US" sz="3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Interactive sidebar navigation</a:t>
            </a:r>
          </a:p>
          <a:p>
            <a:pPr algn="l" marL="765091" indent="-382545" lvl="1">
              <a:lnSpc>
                <a:spcPts val="6332"/>
              </a:lnSpc>
              <a:buFont typeface="Arial"/>
              <a:buChar char="•"/>
            </a:pPr>
            <a:r>
              <a:rPr lang="en-US" sz="3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Smooth animations and transitions</a:t>
            </a:r>
          </a:p>
          <a:p>
            <a:pPr algn="l" marL="765091" indent="-382545" lvl="1">
              <a:lnSpc>
                <a:spcPts val="6332"/>
              </a:lnSpc>
              <a:buFont typeface="Arial"/>
              <a:buChar char="•"/>
            </a:pPr>
            <a:r>
              <a:rPr lang="en-US" sz="3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Dynamic notifications and toast messages</a:t>
            </a:r>
          </a:p>
          <a:p>
            <a:pPr algn="l" marL="765091" indent="-382545" lvl="1">
              <a:lnSpc>
                <a:spcPts val="6332"/>
              </a:lnSpc>
              <a:buFont typeface="Arial"/>
              <a:buChar char="•"/>
            </a:pPr>
            <a:r>
              <a:rPr lang="en-US" sz="3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Professional glassmorphism UI design</a:t>
            </a:r>
          </a:p>
          <a:p>
            <a:pPr algn="l" marL="765091" indent="-382545" lvl="1">
              <a:lnSpc>
                <a:spcPts val="6332"/>
              </a:lnSpc>
              <a:buFont typeface="Arial"/>
              <a:buChar char="•"/>
            </a:pPr>
            <a:r>
              <a:rPr lang="en-US" sz="3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interactive user experience</a:t>
            </a:r>
          </a:p>
          <a:p>
            <a:pPr algn="l" marL="765091" indent="-382545" lvl="1">
              <a:lnSpc>
                <a:spcPts val="6332"/>
              </a:lnSpc>
              <a:buFont typeface="Arial"/>
              <a:buChar char="•"/>
            </a:pPr>
            <a:r>
              <a:rPr lang="en-US" sz="354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Clean and user-friendly layout</a:t>
            </a:r>
          </a:p>
          <a:p>
            <a:pPr algn="l">
              <a:lnSpc>
                <a:spcPts val="6332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5199595" y="9778422"/>
            <a:ext cx="118177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"/>
              </a:lnSpc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0"/>
            <a:ext cx="13714390" cy="1256576"/>
            <a:chOff x="0" y="0"/>
            <a:chExt cx="13714387" cy="1256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4346" cy="1256534"/>
            </a:xfrm>
            <a:custGeom>
              <a:avLst/>
              <a:gdLst/>
              <a:ahLst/>
              <a:cxnLst/>
              <a:rect r="r" b="b" t="t" l="l"/>
              <a:pathLst>
                <a:path h="1256534" w="13714346">
                  <a:moveTo>
                    <a:pt x="0" y="0"/>
                  </a:moveTo>
                  <a:lnTo>
                    <a:pt x="0" y="1256534"/>
                  </a:lnTo>
                  <a:lnTo>
                    <a:pt x="13714346" y="1256534"/>
                  </a:lnTo>
                  <a:lnTo>
                    <a:pt x="13714346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091435" y="195529"/>
            <a:ext cx="6925637" cy="84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&amp; Conclusion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199595" y="9626022"/>
            <a:ext cx="118177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8748" y="1635691"/>
            <a:ext cx="12887249" cy="762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159" indent="-415580" lvl="1">
              <a:lnSpc>
                <a:spcPts val="6837"/>
              </a:lnSpc>
              <a:buFont typeface="Arial"/>
              <a:buChar char="•"/>
            </a:pPr>
            <a:r>
              <a:rPr lang="en-US" sz="38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</a:t>
            </a:r>
            <a:r>
              <a:rPr lang="en-US" sz="38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ntegration of AI-based productivity recommendations</a:t>
            </a:r>
          </a:p>
          <a:p>
            <a:pPr algn="l" marL="831159" indent="-415580" lvl="1">
              <a:lnSpc>
                <a:spcPts val="6837"/>
              </a:lnSpc>
              <a:buFont typeface="Arial"/>
              <a:buChar char="•"/>
            </a:pPr>
            <a:r>
              <a:rPr lang="en-US" sz="38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Cloud database integration for data storage</a:t>
            </a:r>
          </a:p>
          <a:p>
            <a:pPr algn="l" marL="831159" indent="-415580" lvl="1">
              <a:lnSpc>
                <a:spcPts val="6837"/>
              </a:lnSpc>
              <a:buFont typeface="Arial"/>
              <a:buChar char="•"/>
            </a:pPr>
            <a:r>
              <a:rPr lang="en-US" sz="38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 authentication and personalized profiles</a:t>
            </a:r>
          </a:p>
          <a:p>
            <a:pPr algn="l" marL="831159" indent="-415580" lvl="1">
              <a:lnSpc>
                <a:spcPts val="6837"/>
              </a:lnSpc>
              <a:buFont typeface="Arial"/>
              <a:buChar char="•"/>
            </a:pPr>
            <a:r>
              <a:rPr lang="en-US" sz="38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Analytics dashboard with productivity insights</a:t>
            </a:r>
          </a:p>
          <a:p>
            <a:pPr algn="l" marL="831159" indent="-415580" lvl="1">
              <a:lnSpc>
                <a:spcPts val="6837"/>
              </a:lnSpc>
              <a:buFont typeface="Arial"/>
              <a:buChar char="•"/>
            </a:pPr>
            <a:r>
              <a:rPr lang="en-US" sz="38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Mobile application development</a:t>
            </a:r>
          </a:p>
          <a:p>
            <a:pPr algn="l" marL="831159" indent="-415580" lvl="1">
              <a:lnSpc>
                <a:spcPts val="6837"/>
              </a:lnSpc>
              <a:buFont typeface="Arial"/>
              <a:buChar char="•"/>
            </a:pPr>
            <a:r>
              <a:rPr lang="en-US" sz="38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chatbot integration for wellness assistance</a:t>
            </a:r>
          </a:p>
          <a:p>
            <a:pPr algn="l" marL="831159" indent="-415580" lvl="1">
              <a:lnSpc>
                <a:spcPts val="6837"/>
              </a:lnSpc>
              <a:buFont typeface="Arial"/>
              <a:buChar char="•"/>
            </a:pPr>
            <a:r>
              <a:rPr lang="en-US" sz="38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Real-time synchronization across devices</a:t>
            </a:r>
          </a:p>
          <a:p>
            <a:pPr algn="l" marL="831159" indent="-415580" lvl="1">
              <a:lnSpc>
                <a:spcPts val="6837"/>
              </a:lnSpc>
              <a:buFont typeface="Arial"/>
              <a:buChar char="•"/>
            </a:pPr>
            <a:r>
              <a:rPr lang="en-US" sz="38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Advanced reporting and progress tracking</a:t>
            </a:r>
          </a:p>
          <a:p>
            <a:pPr algn="l">
              <a:lnSpc>
                <a:spcPts val="506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056962"/>
            <a:ext cx="13715905" cy="230038"/>
            <a:chOff x="0" y="0"/>
            <a:chExt cx="13715911" cy="230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5496" cy="229993"/>
            </a:xfrm>
            <a:custGeom>
              <a:avLst/>
              <a:gdLst/>
              <a:ahLst/>
              <a:cxnLst/>
              <a:rect r="r" b="b" t="t" l="l"/>
              <a:pathLst>
                <a:path h="229993" w="13715496">
                  <a:moveTo>
                    <a:pt x="0" y="0"/>
                  </a:moveTo>
                  <a:lnTo>
                    <a:pt x="0" y="229993"/>
                  </a:lnTo>
                  <a:lnTo>
                    <a:pt x="13715496" y="229993"/>
                  </a:lnTo>
                  <a:lnTo>
                    <a:pt x="13715496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0"/>
            <a:ext cx="13714390" cy="1256576"/>
            <a:chOff x="0" y="0"/>
            <a:chExt cx="13714387" cy="12565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4346" cy="1256534"/>
            </a:xfrm>
            <a:custGeom>
              <a:avLst/>
              <a:gdLst/>
              <a:ahLst/>
              <a:cxnLst/>
              <a:rect r="r" b="b" t="t" l="l"/>
              <a:pathLst>
                <a:path h="1256534" w="13714346">
                  <a:moveTo>
                    <a:pt x="0" y="0"/>
                  </a:moveTo>
                  <a:lnTo>
                    <a:pt x="0" y="1256534"/>
                  </a:lnTo>
                  <a:lnTo>
                    <a:pt x="13714346" y="1256534"/>
                  </a:lnTo>
                  <a:lnTo>
                    <a:pt x="13714346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132614" y="195529"/>
            <a:ext cx="2761631" cy="84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199595" y="9626022"/>
            <a:ext cx="118177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86762" y="1531116"/>
            <a:ext cx="12887106" cy="6958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4802" indent="-372401" lvl="1">
              <a:lnSpc>
                <a:spcPts val="6126"/>
              </a:lnSpc>
              <a:buFont typeface="Arial"/>
              <a:buChar char="•"/>
            </a:pPr>
            <a:r>
              <a:rPr lang="en-US" sz="3449" spc="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MDN</a:t>
            </a:r>
            <a:r>
              <a:rPr lang="en-US" sz="3449" spc="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Web Docs</a:t>
            </a:r>
          </a:p>
          <a:p>
            <a:pPr algn="l" marL="744802" indent="-372401" lvl="1">
              <a:lnSpc>
                <a:spcPts val="6126"/>
              </a:lnSpc>
              <a:buFont typeface="Arial"/>
              <a:buChar char="•"/>
            </a:pPr>
            <a:r>
              <a:rPr lang="en-US" sz="3449" spc="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W3Schools</a:t>
            </a:r>
          </a:p>
          <a:p>
            <a:pPr algn="l" marL="744802" indent="-372401" lvl="1">
              <a:lnSpc>
                <a:spcPts val="6126"/>
              </a:lnSpc>
              <a:buFont typeface="Arial"/>
              <a:buChar char="•"/>
            </a:pPr>
            <a:r>
              <a:rPr lang="en-US" sz="3449" spc="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 ES6 Documentation</a:t>
            </a:r>
          </a:p>
          <a:p>
            <a:pPr algn="l" marL="744802" indent="-372401" lvl="1">
              <a:lnSpc>
                <a:spcPts val="6126"/>
              </a:lnSpc>
              <a:buFont typeface="Arial"/>
              <a:buChar char="•"/>
            </a:pPr>
            <a:r>
              <a:rPr lang="en-US" sz="3449" spc="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Fonts</a:t>
            </a:r>
          </a:p>
          <a:p>
            <a:pPr algn="l" marL="744802" indent="-372401" lvl="1">
              <a:lnSpc>
                <a:spcPts val="6126"/>
              </a:lnSpc>
              <a:buFont typeface="Arial"/>
              <a:buChar char="•"/>
            </a:pPr>
            <a:r>
              <a:rPr lang="en-US" sz="3449" spc="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Material Design Guidelines</a:t>
            </a:r>
          </a:p>
          <a:p>
            <a:pPr algn="l" marL="744802" indent="-372401" lvl="1">
              <a:lnSpc>
                <a:spcPts val="6126"/>
              </a:lnSpc>
              <a:buFont typeface="Arial"/>
              <a:buChar char="•"/>
            </a:pPr>
            <a:r>
              <a:rPr lang="en-US" sz="3449" spc="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UI/UX Inspiration from Dribbble and Behance</a:t>
            </a:r>
          </a:p>
          <a:p>
            <a:pPr algn="l" marL="744802" indent="-372401" lvl="1">
              <a:lnSpc>
                <a:spcPts val="6126"/>
              </a:lnSpc>
              <a:buFont typeface="Arial"/>
              <a:buChar char="•"/>
            </a:pPr>
            <a:r>
              <a:rPr lang="en-US" sz="3449" spc="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Responsive Web Design Documentation</a:t>
            </a:r>
          </a:p>
          <a:p>
            <a:pPr algn="l" marL="744802" indent="-372401" lvl="1">
              <a:lnSpc>
                <a:spcPts val="6126"/>
              </a:lnSpc>
              <a:buFont typeface="Arial"/>
              <a:buChar char="•"/>
            </a:pPr>
            <a:r>
              <a:rPr lang="en-US" sz="3449" spc="1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CSS Animation &amp; Transition Documentation</a:t>
            </a:r>
          </a:p>
          <a:p>
            <a:pPr algn="l">
              <a:lnSpc>
                <a:spcPts val="6126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056962"/>
            <a:ext cx="13715905" cy="230038"/>
            <a:chOff x="0" y="0"/>
            <a:chExt cx="13715911" cy="2300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5496" cy="229993"/>
            </a:xfrm>
            <a:custGeom>
              <a:avLst/>
              <a:gdLst/>
              <a:ahLst/>
              <a:cxnLst/>
              <a:rect r="r" b="b" t="t" l="l"/>
              <a:pathLst>
                <a:path h="229993" w="13715496">
                  <a:moveTo>
                    <a:pt x="0" y="0"/>
                  </a:moveTo>
                  <a:lnTo>
                    <a:pt x="0" y="229993"/>
                  </a:lnTo>
                  <a:lnTo>
                    <a:pt x="13715496" y="229993"/>
                  </a:lnTo>
                  <a:lnTo>
                    <a:pt x="13715496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0"/>
            <a:ext cx="13714390" cy="1256576"/>
            <a:chOff x="0" y="0"/>
            <a:chExt cx="13714387" cy="12565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14346" cy="1256534"/>
            </a:xfrm>
            <a:custGeom>
              <a:avLst/>
              <a:gdLst/>
              <a:ahLst/>
              <a:cxnLst/>
              <a:rect r="r" b="b" t="t" l="l"/>
              <a:pathLst>
                <a:path h="1256534" w="13714346">
                  <a:moveTo>
                    <a:pt x="0" y="0"/>
                  </a:moveTo>
                  <a:lnTo>
                    <a:pt x="0" y="1256534"/>
                  </a:lnTo>
                  <a:lnTo>
                    <a:pt x="13714346" y="1256534"/>
                  </a:lnTo>
                  <a:lnTo>
                    <a:pt x="13714346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5" b="-1210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505962" y="0"/>
            <a:ext cx="4496038" cy="1256576"/>
            <a:chOff x="0" y="0"/>
            <a:chExt cx="4496041" cy="12565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95421" cy="1256534"/>
            </a:xfrm>
            <a:custGeom>
              <a:avLst/>
              <a:gdLst/>
              <a:ahLst/>
              <a:cxnLst/>
              <a:rect r="r" b="b" t="t" l="l"/>
              <a:pathLst>
                <a:path h="1256534" w="4495421">
                  <a:moveTo>
                    <a:pt x="0" y="0"/>
                  </a:moveTo>
                  <a:lnTo>
                    <a:pt x="0" y="1256534"/>
                  </a:lnTo>
                  <a:lnTo>
                    <a:pt x="4495421" y="1256534"/>
                  </a:lnTo>
                  <a:lnTo>
                    <a:pt x="4495421" y="0"/>
                  </a:lnTo>
                  <a:close/>
                </a:path>
              </a:pathLst>
            </a:custGeom>
            <a:solidFill>
              <a:srgbClr val="FF330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077824" y="285664"/>
            <a:ext cx="3112589" cy="1028157"/>
            <a:chOff x="0" y="0"/>
            <a:chExt cx="3112592" cy="10281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12641" cy="1028186"/>
            </a:xfrm>
            <a:custGeom>
              <a:avLst/>
              <a:gdLst/>
              <a:ahLst/>
              <a:cxnLst/>
              <a:rect r="r" b="b" t="t" l="l"/>
              <a:pathLst>
                <a:path h="1028186" w="3112641">
                  <a:moveTo>
                    <a:pt x="0" y="0"/>
                  </a:moveTo>
                  <a:lnTo>
                    <a:pt x="3112641" y="0"/>
                  </a:lnTo>
                  <a:lnTo>
                    <a:pt x="3112641" y="1028186"/>
                  </a:lnTo>
                  <a:lnTo>
                    <a:pt x="0" y="102818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115619" y="342900"/>
            <a:ext cx="3085567" cy="952024"/>
            <a:chOff x="0" y="0"/>
            <a:chExt cx="4114089" cy="12693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14038" cy="1269365"/>
            </a:xfrm>
            <a:custGeom>
              <a:avLst/>
              <a:gdLst/>
              <a:ahLst/>
              <a:cxnLst/>
              <a:rect r="r" b="b" t="t" l="l"/>
              <a:pathLst>
                <a:path h="1269365" w="4114038">
                  <a:moveTo>
                    <a:pt x="0" y="0"/>
                  </a:moveTo>
                  <a:lnTo>
                    <a:pt x="4114038" y="0"/>
                  </a:lnTo>
                  <a:lnTo>
                    <a:pt x="4114038" y="1269365"/>
                  </a:lnTo>
                  <a:lnTo>
                    <a:pt x="0" y="1269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052116" y="279397"/>
            <a:ext cx="3212563" cy="1079021"/>
            <a:chOff x="0" y="0"/>
            <a:chExt cx="3212567" cy="10790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0" y="63500"/>
              <a:ext cx="2880873" cy="913636"/>
            </a:xfrm>
            <a:custGeom>
              <a:avLst/>
              <a:gdLst/>
              <a:ahLst/>
              <a:cxnLst/>
              <a:rect r="r" b="b" t="t" l="l"/>
              <a:pathLst>
                <a:path h="913636" w="2880873">
                  <a:moveTo>
                    <a:pt x="0" y="913636"/>
                  </a:moveTo>
                  <a:lnTo>
                    <a:pt x="2880874" y="913636"/>
                  </a:lnTo>
                  <a:lnTo>
                    <a:pt x="28808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63500" y="63500"/>
              <a:ext cx="2880873" cy="913636"/>
            </a:xfrm>
            <a:custGeom>
              <a:avLst/>
              <a:gdLst/>
              <a:ahLst/>
              <a:cxnLst/>
              <a:rect r="r" b="b" t="t" l="l"/>
              <a:pathLst>
                <a:path h="913636" w="2880873">
                  <a:moveTo>
                    <a:pt x="0" y="913636"/>
                  </a:moveTo>
                  <a:lnTo>
                    <a:pt x="2880874" y="913636"/>
                  </a:lnTo>
                  <a:lnTo>
                    <a:pt x="288087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63500" y="63500"/>
              <a:ext cx="3085598" cy="951990"/>
            </a:xfrm>
            <a:custGeom>
              <a:avLst/>
              <a:gdLst/>
              <a:ahLst/>
              <a:cxnLst/>
              <a:rect r="r" b="b" t="t" l="l"/>
              <a:pathLst>
                <a:path h="951990" w="3085598">
                  <a:moveTo>
                    <a:pt x="0" y="951989"/>
                  </a:moveTo>
                  <a:lnTo>
                    <a:pt x="3085598" y="951989"/>
                  </a:lnTo>
                  <a:lnTo>
                    <a:pt x="30855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63500"/>
              <a:ext cx="3085598" cy="951990"/>
            </a:xfrm>
            <a:custGeom>
              <a:avLst/>
              <a:gdLst/>
              <a:ahLst/>
              <a:cxnLst/>
              <a:rect r="r" b="b" t="t" l="l"/>
              <a:pathLst>
                <a:path h="951990" w="3085598">
                  <a:moveTo>
                    <a:pt x="0" y="951989"/>
                  </a:moveTo>
                  <a:lnTo>
                    <a:pt x="3085598" y="951989"/>
                  </a:lnTo>
                  <a:lnTo>
                    <a:pt x="30855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63500" y="63500"/>
              <a:ext cx="3085598" cy="951990"/>
            </a:xfrm>
            <a:custGeom>
              <a:avLst/>
              <a:gdLst/>
              <a:ahLst/>
              <a:cxnLst/>
              <a:rect r="r" b="b" t="t" l="l"/>
              <a:pathLst>
                <a:path h="951990" w="3085598">
                  <a:moveTo>
                    <a:pt x="0" y="951989"/>
                  </a:moveTo>
                  <a:lnTo>
                    <a:pt x="3085598" y="951989"/>
                  </a:lnTo>
                  <a:lnTo>
                    <a:pt x="30855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500" y="63500"/>
              <a:ext cx="3085598" cy="951990"/>
            </a:xfrm>
            <a:custGeom>
              <a:avLst/>
              <a:gdLst/>
              <a:ahLst/>
              <a:cxnLst/>
              <a:rect r="r" b="b" t="t" l="l"/>
              <a:pathLst>
                <a:path h="951990" w="3085598">
                  <a:moveTo>
                    <a:pt x="0" y="951989"/>
                  </a:moveTo>
                  <a:lnTo>
                    <a:pt x="3085598" y="951989"/>
                  </a:lnTo>
                  <a:lnTo>
                    <a:pt x="30855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63500" y="63500"/>
              <a:ext cx="3085598" cy="951990"/>
            </a:xfrm>
            <a:custGeom>
              <a:avLst/>
              <a:gdLst/>
              <a:ahLst/>
              <a:cxnLst/>
              <a:rect r="r" b="b" t="t" l="l"/>
              <a:pathLst>
                <a:path h="951990" w="3085598">
                  <a:moveTo>
                    <a:pt x="0" y="951989"/>
                  </a:moveTo>
                  <a:lnTo>
                    <a:pt x="3085598" y="951989"/>
                  </a:lnTo>
                  <a:lnTo>
                    <a:pt x="30855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6501660" y="4251167"/>
            <a:ext cx="5283070" cy="156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12"/>
              </a:lnSpc>
            </a:pPr>
            <a:r>
              <a:rPr lang="en-US" sz="900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083952" y="9626022"/>
            <a:ext cx="236163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DAHE2cMKzXs</dc:identifier>
  <dcterms:modified xsi:type="dcterms:W3CDTF">2011-08-01T06:04:30Z</dcterms:modified>
  <cp:revision>1</cp:revision>
  <dc:title>Project Presentation of Industry oriented hands on experience ( 22CS422) On Customer Behaviour Prediction and Personalization using Machine Learning</dc:title>
</cp:coreProperties>
</file>